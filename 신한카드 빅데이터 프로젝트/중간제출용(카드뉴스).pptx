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64" r:id="rId5"/>
    <p:sldId id="260" r:id="rId6"/>
    <p:sldId id="265" r:id="rId7"/>
    <p:sldId id="266" r:id="rId8"/>
    <p:sldId id="267" r:id="rId9"/>
  </p:sldIdLst>
  <p:sldSz cx="9001125" cy="900112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/>
    <p:restoredTop sz="94687"/>
  </p:normalViewPr>
  <p:slideViewPr>
    <p:cSldViewPr showGuides="1">
      <p:cViewPr varScale="1">
        <p:scale>
          <a:sx n="62" d="100"/>
          <a:sy n="62" d="100"/>
        </p:scale>
        <p:origin x="130" y="72"/>
      </p:cViewPr>
      <p:guideLst>
        <p:guide orient="horz" pos="2835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CA213-0D52-D441-AB05-D54F9FFB0312}" type="datetimeFigureOut">
              <a:rPr kumimoji="1" lang="ko-KR" altLang="en-US" smtClean="0"/>
              <a:t>2018-08-22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B95E0-F698-F541-9402-F9D398BA07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462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900F9-349C-425C-AD23-83C12826D41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207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900F9-349C-425C-AD23-83C12826D41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39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5085" y="2796183"/>
            <a:ext cx="7650956" cy="19294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0169" y="5100637"/>
            <a:ext cx="6300788" cy="23002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7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99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1027" y="5784057"/>
            <a:ext cx="7650956" cy="17877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1027" y="3815062"/>
            <a:ext cx="7650956" cy="19689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44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0056" y="2100263"/>
            <a:ext cx="3975497" cy="59403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5572" y="2100263"/>
            <a:ext cx="3975497" cy="59403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96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056" y="2014836"/>
            <a:ext cx="3977060" cy="8396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056" y="2854523"/>
            <a:ext cx="3977060" cy="51860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2447" y="2014836"/>
            <a:ext cx="3978622" cy="8396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2447" y="2854523"/>
            <a:ext cx="3978622" cy="51860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77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5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09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057" y="358378"/>
            <a:ext cx="2961308" cy="152519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19190" y="358379"/>
            <a:ext cx="5031879" cy="76822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057" y="1883570"/>
            <a:ext cx="2961308" cy="61570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42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4284" y="6300787"/>
            <a:ext cx="5400675" cy="7438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4284" y="804267"/>
            <a:ext cx="5400675" cy="54006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4284" y="7044631"/>
            <a:ext cx="5400675" cy="10563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96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8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25816" y="360463"/>
            <a:ext cx="2025253" cy="768012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0056" y="360463"/>
            <a:ext cx="5925741" cy="768012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44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0056" y="360462"/>
            <a:ext cx="8101013" cy="1500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056" y="2100263"/>
            <a:ext cx="8101013" cy="5940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0056" y="8342710"/>
            <a:ext cx="2100263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A4D20-636F-4428-B02D-D627690C8ACE}" type="datetimeFigureOut">
              <a:rPr lang="ko-KR" altLang="en-US" smtClean="0"/>
              <a:t>2018-08-22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75385" y="8342710"/>
            <a:ext cx="2850356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0806" y="8342710"/>
            <a:ext cx="2100263" cy="479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11777-53F6-40FD-B02D-732215754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4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13.wdp"/><Relationship Id="rId3" Type="http://schemas.microsoft.com/office/2007/relationships/hdphoto" Target="../media/hdphoto8.wdp"/><Relationship Id="rId7" Type="http://schemas.microsoft.com/office/2007/relationships/hdphoto" Target="../media/hdphoto10.wdp"/><Relationship Id="rId12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microsoft.com/office/2007/relationships/hdphoto" Target="../media/hdphoto12.wdp"/><Relationship Id="rId5" Type="http://schemas.microsoft.com/office/2007/relationships/hdphoto" Target="../media/hdphoto9.wdp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microsoft.com/office/2007/relationships/hdphoto" Target="../media/hdphoto1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28.png"/><Relationship Id="rId3" Type="http://schemas.openxmlformats.org/officeDocument/2006/relationships/image" Target="../media/image17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microsoft.com/office/2007/relationships/hdphoto" Target="../media/hdphoto16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5.wdp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microsoft.com/office/2007/relationships/hdphoto" Target="../media/hdphoto17.wdp"/><Relationship Id="rId4" Type="http://schemas.microsoft.com/office/2007/relationships/hdphoto" Target="../media/hdphoto14.wdp"/><Relationship Id="rId9" Type="http://schemas.openxmlformats.org/officeDocument/2006/relationships/image" Target="../media/image21.png"/><Relationship Id="rId1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microsoft.com/office/2007/relationships/hdphoto" Target="../media/hdphoto18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9.wdp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90011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1" y="2772370"/>
            <a:ext cx="6598443" cy="659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7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9001125" cy="90011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00" b="976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613"/>
          <a:stretch/>
        </p:blipFill>
        <p:spPr>
          <a:xfrm>
            <a:off x="-365137" y="4140522"/>
            <a:ext cx="4991021" cy="486060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00" b="96571" l="16444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431"/>
          <a:stretch/>
        </p:blipFill>
        <p:spPr>
          <a:xfrm>
            <a:off x="3564458" y="4258695"/>
            <a:ext cx="6380121" cy="4742430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1512230" y="756146"/>
            <a:ext cx="468052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지난 </a:t>
            </a:r>
            <a:r>
              <a:rPr lang="en-US" altLang="ko-KR" sz="2000" dirty="0"/>
              <a:t>8</a:t>
            </a:r>
            <a:r>
              <a:rPr lang="ko-KR" altLang="en-US" sz="2000" dirty="0"/>
              <a:t>일 신한대학교의 모교수로부터</a:t>
            </a:r>
            <a:endParaRPr lang="en-US" altLang="ko-KR" sz="2000" dirty="0"/>
          </a:p>
        </p:txBody>
      </p:sp>
      <p:sp>
        <p:nvSpPr>
          <p:cNvPr id="11" name="TextBox 4"/>
          <p:cNvSpPr txBox="1"/>
          <p:nvPr/>
        </p:nvSpPr>
        <p:spPr>
          <a:xfrm>
            <a:off x="1512230" y="1286744"/>
            <a:ext cx="6192688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algn="l"/>
            <a:r>
              <a:rPr lang="ko-KR" altLang="en-US" sz="2000" dirty="0">
                <a:solidFill>
                  <a:srgbClr val="FFC000"/>
                </a:solidFill>
              </a:rPr>
              <a:t>점심식사를 거르거나 아침 수업에 숙면을 취하는 학생이 </a:t>
            </a:r>
            <a:r>
              <a:rPr lang="ko-KR" altLang="en-US" sz="2000" dirty="0">
                <a:solidFill>
                  <a:srgbClr val="FF0000"/>
                </a:solidFill>
              </a:rPr>
              <a:t>많아지고 있다</a:t>
            </a:r>
            <a:r>
              <a:rPr lang="ko-KR" altLang="en-US" sz="2000" dirty="0"/>
              <a:t>는 제보를 받았습니다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12" name="TextBox 4"/>
          <p:cNvSpPr txBox="1"/>
          <p:nvPr/>
        </p:nvSpPr>
        <p:spPr>
          <a:xfrm>
            <a:off x="1512230" y="2164401"/>
            <a:ext cx="4824536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algn="l"/>
            <a:r>
              <a:rPr lang="ko-KR" altLang="en-US" sz="2000" dirty="0"/>
              <a:t>이에 학습태도증진위원회인 우리는</a:t>
            </a:r>
            <a:r>
              <a:rPr lang="en-US" altLang="ko-KR" sz="2000" dirty="0"/>
              <a:t>!!!</a:t>
            </a:r>
            <a:br>
              <a:rPr lang="en-US" altLang="ko-KR" sz="2000" dirty="0"/>
            </a:br>
            <a:r>
              <a:rPr lang="ko-KR" altLang="en-US" sz="2000" dirty="0"/>
              <a:t>이 사태를 눈뜨고만 볼 수 없기에 </a:t>
            </a:r>
            <a:br>
              <a:rPr lang="en-US" altLang="ko-KR" sz="2000" dirty="0"/>
            </a:br>
            <a:r>
              <a:rPr lang="ko-KR" altLang="en-US" sz="2000" dirty="0"/>
              <a:t>대대적인 조사를 나서기로 마음먹었어요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1512230" y="3356313"/>
            <a:ext cx="565262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대체</a:t>
            </a:r>
            <a:r>
              <a:rPr lang="mr-IN" altLang="ko-KR" sz="2000" dirty="0"/>
              <a:t>…</a:t>
            </a:r>
            <a:r>
              <a:rPr lang="ko-KR" altLang="en-US" sz="2000" dirty="0"/>
              <a:t>너희는 왜그런거지</a:t>
            </a:r>
            <a:r>
              <a:rPr lang="en-US" altLang="ko-KR" sz="2000" dirty="0"/>
              <a:t>?!</a:t>
            </a:r>
            <a:r>
              <a:rPr lang="ko-KR" altLang="en-US" sz="2000" dirty="0"/>
              <a:t> 낱낱이 밝혀주마</a:t>
            </a:r>
            <a:r>
              <a:rPr lang="en-US" altLang="ko-KR" sz="2000" dirty="0"/>
              <a:t>!!!</a:t>
            </a:r>
            <a:r>
              <a:rPr lang="ko-KR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422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001125" cy="90011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74" y="5957319"/>
            <a:ext cx="2808313" cy="2771034"/>
          </a:xfrm>
          <a:prstGeom prst="rect">
            <a:avLst/>
          </a:prstGeom>
          <a:effectLst>
            <a:glow rad="660400">
              <a:schemeClr val="bg1"/>
            </a:glo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000" b="992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71835" y="2052290"/>
            <a:ext cx="2881389" cy="2881389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1354308" y="503821"/>
            <a:ext cx="3593932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algn="l"/>
            <a:r>
              <a:rPr lang="ko-KR" altLang="en-US" sz="2000" dirty="0"/>
              <a:t>저</a:t>
            </a:r>
            <a:r>
              <a:rPr lang="en-US" altLang="ko-KR" sz="2000" dirty="0"/>
              <a:t>..</a:t>
            </a:r>
            <a:r>
              <a:rPr lang="ko-KR" altLang="en-US" sz="2000" dirty="0"/>
              <a:t>저걸 보라고</a:t>
            </a:r>
            <a:r>
              <a:rPr lang="en-US" altLang="ko-KR" sz="2000" dirty="0"/>
              <a:t>!!!</a:t>
            </a:r>
            <a:br>
              <a:rPr lang="en-US" altLang="ko-KR" sz="2000" dirty="0"/>
            </a:br>
            <a:r>
              <a:rPr lang="ko-KR" altLang="en-US" sz="2000" dirty="0"/>
              <a:t>저 상태로 걷고 있는거 자체가 </a:t>
            </a:r>
            <a:endParaRPr lang="en-US" altLang="ko-KR" sz="2000" dirty="0"/>
          </a:p>
        </p:txBody>
      </p:sp>
      <p:sp>
        <p:nvSpPr>
          <p:cNvPr id="12" name="TextBox 4"/>
          <p:cNvSpPr txBox="1"/>
          <p:nvPr/>
        </p:nvSpPr>
        <p:spPr>
          <a:xfrm>
            <a:off x="1354308" y="1328383"/>
            <a:ext cx="224644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아주 경이스러워</a:t>
            </a:r>
            <a:r>
              <a:rPr lang="en-US" altLang="ko-KR" sz="2000" dirty="0"/>
              <a:t>!!!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1343297" y="1826558"/>
            <a:ext cx="4838736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algn="l"/>
            <a:r>
              <a:rPr lang="ko-KR" altLang="en-US" sz="2000" dirty="0"/>
              <a:t>대체 한달 알바비 </a:t>
            </a:r>
            <a:r>
              <a:rPr lang="en-US" altLang="ko-KR" sz="2000" dirty="0"/>
              <a:t>40</a:t>
            </a:r>
            <a:r>
              <a:rPr lang="ko-KR" altLang="en-US" sz="2000" dirty="0"/>
              <a:t>만원을 어디에 </a:t>
            </a:r>
            <a:endParaRPr lang="en-US" altLang="ko-KR" sz="2000" dirty="0"/>
          </a:p>
          <a:p>
            <a:pPr algn="l"/>
            <a:r>
              <a:rPr lang="ko-KR" altLang="en-US" sz="2000" dirty="0"/>
              <a:t>쓰길래 저렇게 밥도 못먹는 지경이 됐지</a:t>
            </a:r>
            <a:r>
              <a:rPr lang="en-US" altLang="ko-KR" sz="2000" dirty="0"/>
              <a:t>?!</a:t>
            </a:r>
          </a:p>
        </p:txBody>
      </p:sp>
      <p:sp>
        <p:nvSpPr>
          <p:cNvPr id="14" name="TextBox 4"/>
          <p:cNvSpPr txBox="1"/>
          <p:nvPr/>
        </p:nvSpPr>
        <p:spPr>
          <a:xfrm>
            <a:off x="1342084" y="2732088"/>
            <a:ext cx="4994975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algn="l"/>
            <a:r>
              <a:rPr lang="ko-KR" altLang="en-US" sz="2000" dirty="0"/>
              <a:t>스컬리</a:t>
            </a:r>
            <a:r>
              <a:rPr lang="en-US" altLang="ko-KR" sz="2000" dirty="0"/>
              <a:t>..</a:t>
            </a:r>
            <a:r>
              <a:rPr lang="ko-KR" altLang="en-US" sz="2000" dirty="0"/>
              <a:t>이 고질적인 문제를 해결하기 위해 저런 녀석의 소비패턴을 살펴봐야겠어 </a:t>
            </a:r>
            <a:endParaRPr lang="en-US" altLang="ko-KR" sz="2000" dirty="0"/>
          </a:p>
        </p:txBody>
      </p:sp>
      <p:sp>
        <p:nvSpPr>
          <p:cNvPr id="15" name="TextBox 4"/>
          <p:cNvSpPr txBox="1"/>
          <p:nvPr/>
        </p:nvSpPr>
        <p:spPr>
          <a:xfrm>
            <a:off x="1342084" y="3637617"/>
            <a:ext cx="1394576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부탁해</a:t>
            </a:r>
            <a:r>
              <a:rPr lang="mr-IN" altLang="ko-KR" sz="2000" dirty="0"/>
              <a:t>…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534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00" b="96571" l="16444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684014" y="180082"/>
            <a:ext cx="4464496" cy="3472386"/>
          </a:xfrm>
          <a:prstGeom prst="rect">
            <a:avLst/>
          </a:prstGeom>
        </p:spPr>
      </p:pic>
      <p:sp>
        <p:nvSpPr>
          <p:cNvPr id="6" name="모서리가 둥근 사각형 설명선[R] 5"/>
          <p:cNvSpPr/>
          <p:nvPr/>
        </p:nvSpPr>
        <p:spPr>
          <a:xfrm>
            <a:off x="3147980" y="243902"/>
            <a:ext cx="5400600" cy="2376264"/>
          </a:xfrm>
          <a:prstGeom prst="wedgeRoundRectCallout">
            <a:avLst>
              <a:gd name="adj1" fmla="val -68894"/>
              <a:gd name="adj2" fmla="val 483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텍스트 상자 6"/>
          <p:cNvSpPr txBox="1"/>
          <p:nvPr/>
        </p:nvSpPr>
        <p:spPr>
          <a:xfrm>
            <a:off x="3636466" y="438947"/>
            <a:ext cx="4768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오</a:t>
            </a:r>
            <a:r>
              <a:rPr kumimoji="1" lang="en-US" altLang="ko-KR" dirty="0"/>
              <a:t>..</a:t>
            </a:r>
            <a:r>
              <a:rPr kumimoji="1" lang="ko-KR" altLang="en-US" dirty="0"/>
              <a:t>멀더 이걸봐요</a:t>
            </a:r>
            <a:r>
              <a:rPr kumimoji="1" lang="mr-IN" altLang="ko-KR" dirty="0"/>
              <a:t>…</a:t>
            </a:r>
            <a:endParaRPr kumimoji="1" lang="en-US" altLang="ko-KR" dirty="0"/>
          </a:p>
          <a:p>
            <a:r>
              <a:rPr kumimoji="1" lang="ko-KR" altLang="en-US" dirty="0"/>
              <a:t>대체</a:t>
            </a:r>
            <a:r>
              <a:rPr kumimoji="1" lang="mr-IN" altLang="ko-KR" dirty="0"/>
              <a:t>…</a:t>
            </a:r>
            <a:r>
              <a:rPr kumimoji="1" lang="en-US" altLang="ko-KR" dirty="0"/>
              <a:t>..</a:t>
            </a:r>
            <a:r>
              <a:rPr kumimoji="1" lang="ko-KR" altLang="en-US" dirty="0"/>
              <a:t>이게</a:t>
            </a:r>
            <a:r>
              <a:rPr kumimoji="1" lang="mr-IN" altLang="ko-KR" dirty="0"/>
              <a:t>…</a:t>
            </a:r>
            <a:r>
              <a:rPr kumimoji="1" lang="en-US" altLang="ko-KR" dirty="0"/>
              <a:t>..</a:t>
            </a:r>
            <a:br>
              <a:rPr kumimoji="1" lang="en-US" altLang="ko-KR" dirty="0"/>
            </a:br>
            <a:r>
              <a:rPr kumimoji="1" lang="ko-KR" altLang="en-US" dirty="0"/>
              <a:t>이런 소비행태가 존재한다니</a:t>
            </a:r>
            <a:endParaRPr kumimoji="1" lang="en-US" altLang="ko-KR" dirty="0"/>
          </a:p>
          <a:p>
            <a:r>
              <a:rPr kumimoji="1" lang="ko-KR" altLang="en-US" dirty="0"/>
              <a:t>멀더</a:t>
            </a:r>
            <a:r>
              <a:rPr kumimoji="1" lang="mr-IN" altLang="ko-KR" dirty="0"/>
              <a:t>…</a:t>
            </a:r>
            <a:r>
              <a:rPr kumimoji="1" lang="ko-KR" altLang="en-US" dirty="0"/>
              <a:t>전 생각치도 못했어요</a:t>
            </a:r>
            <a:r>
              <a:rPr kumimoji="1" lang="mr-IN" altLang="ko-KR" dirty="0"/>
              <a:t>…</a:t>
            </a:r>
            <a:endParaRPr kumimoji="1" lang="en-US" altLang="ko-KR" dirty="0"/>
          </a:p>
          <a:p>
            <a:r>
              <a:rPr kumimoji="1" lang="ko-KR" altLang="en-US" dirty="0"/>
              <a:t>대체 누구에게 이렇게 선물을 하는거죠</a:t>
            </a:r>
            <a:r>
              <a:rPr kumimoji="1" lang="en-US" altLang="ko-KR" dirty="0"/>
              <a:t>?!</a:t>
            </a:r>
          </a:p>
          <a:p>
            <a:r>
              <a:rPr kumimoji="1" lang="ko-KR" altLang="en-US" dirty="0"/>
              <a:t>게다가 이런 소비를 하는 학생들이 </a:t>
            </a:r>
            <a:br>
              <a:rPr kumimoji="1" lang="en-US" altLang="ko-KR" dirty="0"/>
            </a:br>
            <a:r>
              <a:rPr kumimoji="1" lang="ko-KR" altLang="en-US" dirty="0"/>
              <a:t>늘어나고 있어요</a:t>
            </a:r>
            <a:r>
              <a:rPr kumimoji="1" lang="en-US" altLang="ko-KR" dirty="0"/>
              <a:t>!!!!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6" y="6300762"/>
            <a:ext cx="8152474" cy="232143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38" y="3234198"/>
            <a:ext cx="6372770" cy="263054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46402" y="3964128"/>
            <a:ext cx="35173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자료추가해야함</a:t>
            </a:r>
            <a:r>
              <a:rPr lang="en-US" altLang="ko-KR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93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WatercolorSponge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9363102"/>
          </a:xfrm>
          <a:prstGeom prst="rect">
            <a:avLst/>
          </a:prstGeom>
          <a:effectLst>
            <a:glow rad="127000">
              <a:schemeClr val="bg1">
                <a:alpha val="68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2487318" y="565403"/>
            <a:ext cx="619268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스컬리</a:t>
            </a:r>
            <a:r>
              <a:rPr lang="mr-IN" altLang="ko-KR" sz="2000" dirty="0"/>
              <a:t>…</a:t>
            </a:r>
            <a:r>
              <a:rPr lang="ko-KR" altLang="en-US" sz="2000" dirty="0"/>
              <a:t>정말 소름끼치는군</a:t>
            </a:r>
            <a:r>
              <a:rPr lang="mr-IN" altLang="ko-KR" sz="2000" dirty="0"/>
              <a:t>…</a:t>
            </a:r>
            <a:r>
              <a:rPr lang="ko-KR" altLang="en-US" sz="2000" dirty="0"/>
              <a:t>그런 소비를 하다니</a:t>
            </a:r>
            <a:r>
              <a:rPr lang="mr-IN" altLang="ko-KR" sz="2000" dirty="0"/>
              <a:t>…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00" b="96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406"/>
            <a:ext cx="2487318" cy="3312368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2487318" y="1116186"/>
            <a:ext cx="604569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/>
              <a:t>당신이 분석을 할 때 난 또 다른 현장에 나와있었어</a:t>
            </a:r>
            <a:endParaRPr lang="ko-KR" altLang="en-US" sz="2000" dirty="0"/>
          </a:p>
        </p:txBody>
      </p:sp>
      <p:sp>
        <p:nvSpPr>
          <p:cNvPr id="10" name="TextBox 4"/>
          <p:cNvSpPr txBox="1"/>
          <p:nvPr/>
        </p:nvSpPr>
        <p:spPr>
          <a:xfrm>
            <a:off x="2487318" y="1666969"/>
            <a:ext cx="4101476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이걸 보라고</a:t>
            </a:r>
            <a:r>
              <a:rPr lang="mr-IN" altLang="ko-KR" sz="2000" dirty="0"/>
              <a:t>…</a:t>
            </a:r>
            <a:r>
              <a:rPr lang="en-US" altLang="ko-KR" sz="2000" dirty="0"/>
              <a:t>..</a:t>
            </a:r>
            <a:r>
              <a:rPr lang="ko-KR" altLang="en-US" sz="2000" dirty="0"/>
              <a:t>정말이지 이건</a:t>
            </a:r>
            <a:r>
              <a:rPr lang="mr-IN" altLang="ko-KR" sz="2000" dirty="0"/>
              <a:t>…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12" name="TextBox 4"/>
          <p:cNvSpPr txBox="1"/>
          <p:nvPr/>
        </p:nvSpPr>
        <p:spPr>
          <a:xfrm>
            <a:off x="2487318" y="2217752"/>
            <a:ext cx="294934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수면실이 따로 없군</a:t>
            </a:r>
            <a:r>
              <a:rPr lang="mr-IN" altLang="ko-KR" sz="2000" dirty="0"/>
              <a:t>…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28" y="4932610"/>
            <a:ext cx="2896179" cy="205781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454" y="6907958"/>
            <a:ext cx="3411116" cy="341111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659" y="2799548"/>
            <a:ext cx="3988866" cy="206299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845" b="89896" l="10000" r="976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5694">
            <a:off x="6122544" y="5553666"/>
            <a:ext cx="2504131" cy="19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3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/>
          <p:cNvPicPr>
            <a:picLocks noChangeAspect="1"/>
          </p:cNvPicPr>
          <p:nvPr/>
        </p:nvPicPr>
        <p:blipFill>
          <a:blip r:embed="rId3">
            <a:alphaModFix amt="4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 contras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50"/>
            <a:ext cx="9001125" cy="90044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glow rad="177800">
              <a:schemeClr val="bg1"/>
            </a:glow>
          </a:effectLst>
        </p:spPr>
      </p:pic>
      <p:grpSp>
        <p:nvGrpSpPr>
          <p:cNvPr id="9" name="그룹 8"/>
          <p:cNvGrpSpPr/>
          <p:nvPr/>
        </p:nvGrpSpPr>
        <p:grpSpPr>
          <a:xfrm>
            <a:off x="1499208" y="5286991"/>
            <a:ext cx="7432665" cy="3685253"/>
            <a:chOff x="-756592" y="116632"/>
            <a:chExt cx="9525001" cy="5353050"/>
          </a:xfrm>
        </p:grpSpPr>
        <p:pic>
          <p:nvPicPr>
            <p:cNvPr id="1026" name="Picture 2" descr="C:\Users\kh549\Desktop\지빠귀\KakaoTalk_20180822_195949977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12" b="99288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56592" y="116632"/>
              <a:ext cx="9525001" cy="5353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사다리꼴 6"/>
            <p:cNvSpPr/>
            <p:nvPr/>
          </p:nvSpPr>
          <p:spPr>
            <a:xfrm rot="12024158">
              <a:off x="5040706" y="1091067"/>
              <a:ext cx="770146" cy="762008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2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788024" y="1772816"/>
              <a:ext cx="576064" cy="288032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2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628" y="5404599"/>
            <a:ext cx="1232720" cy="1232720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308906" y="383436"/>
            <a:ext cx="8368120" cy="3789482"/>
            <a:chOff x="395536" y="332656"/>
            <a:chExt cx="3888432" cy="2376264"/>
          </a:xfrm>
        </p:grpSpPr>
        <p:sp>
          <p:nvSpPr>
            <p:cNvPr id="10" name="직사각형 9"/>
            <p:cNvSpPr/>
            <p:nvPr/>
          </p:nvSpPr>
          <p:spPr>
            <a:xfrm>
              <a:off x="395536" y="332656"/>
              <a:ext cx="3888432" cy="2376264"/>
            </a:xfrm>
            <a:prstGeom prst="rect">
              <a:avLst/>
            </a:prstGeom>
            <a:solidFill>
              <a:schemeClr val="tx1"/>
            </a:solidFill>
            <a:ln w="111125">
              <a:solidFill>
                <a:srgbClr val="8C3B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2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855" y="404664"/>
              <a:ext cx="2435105" cy="2237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" name="직선 연결선 12"/>
            <p:cNvCxnSpPr>
              <a:stCxn id="10" idx="0"/>
              <a:endCxn id="10" idx="2"/>
            </p:cNvCxnSpPr>
            <p:nvPr/>
          </p:nvCxnSpPr>
          <p:spPr>
            <a:xfrm>
              <a:off x="2339752" y="332656"/>
              <a:ext cx="0" cy="2376264"/>
            </a:xfrm>
            <a:prstGeom prst="line">
              <a:avLst/>
            </a:prstGeom>
            <a:ln w="111125">
              <a:solidFill>
                <a:srgbClr val="8C3B0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C:\Users\kh549\Desktop\지빠귀\대화박스1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00000">
            <a:off x="3853282" y="2389960"/>
            <a:ext cx="1020451" cy="111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C:\Users\kh549\Desktop\지빠귀\대화박스13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1285">
            <a:off x="4928498" y="4261002"/>
            <a:ext cx="1165411" cy="1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C:\Users\kh549\Desktop\지빠귀\대화박스13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8715" flipH="1">
            <a:off x="7260794" y="4315653"/>
            <a:ext cx="1143891" cy="124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h549\Desktop\지빠귀\ㅣㅣㅣㅣ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227" y="4519865"/>
            <a:ext cx="573951" cy="51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h549\Desktop\지빠귀\KakaoTalk_20180822_200140216ㅣㅣㅣㅣㅣㅣ.png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0" r="14792"/>
          <a:stretch/>
        </p:blipFill>
        <p:spPr bwMode="auto">
          <a:xfrm>
            <a:off x="4065263" y="2597537"/>
            <a:ext cx="427702" cy="60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h549\Desktop\지빠귀\ㅓㅓ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100" y="4552255"/>
            <a:ext cx="529277" cy="52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C:\Users\kh549\Desktop\지빠귀\대화박스13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1285">
            <a:off x="3910260" y="861983"/>
            <a:ext cx="1165411" cy="1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h549\Desktop\지빠귀\KakaoTalk_20180822_200140216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296" y="1095110"/>
            <a:ext cx="504534" cy="49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2000" b="96571" l="16444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32044" y="6040089"/>
            <a:ext cx="3811269" cy="296432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364" b="98182" l="0" r="895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73461" flipH="1">
            <a:off x="497925" y="812980"/>
            <a:ext cx="2002567" cy="1923863"/>
          </a:xfrm>
          <a:prstGeom prst="rect">
            <a:avLst/>
          </a:prstGeom>
        </p:spPr>
      </p:pic>
      <p:sp>
        <p:nvSpPr>
          <p:cNvPr id="26" name="TextBox 4"/>
          <p:cNvSpPr txBox="1"/>
          <p:nvPr/>
        </p:nvSpPr>
        <p:spPr>
          <a:xfrm>
            <a:off x="263093" y="4421092"/>
            <a:ext cx="340280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멀더 원인을 찾은 것 같아요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263093" y="4941904"/>
            <a:ext cx="312837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 dirty="0"/>
              <a:t>새벽 두시인데 아직도</a:t>
            </a:r>
            <a:r>
              <a:rPr lang="en-US" altLang="ko-KR" sz="2000" dirty="0"/>
              <a:t>.....</a:t>
            </a:r>
            <a:endParaRPr lang="ko-KR" altLang="en-US" sz="2000" dirty="0"/>
          </a:p>
        </p:txBody>
      </p:sp>
      <p:sp>
        <p:nvSpPr>
          <p:cNvPr id="28" name="TextBox 4"/>
          <p:cNvSpPr txBox="1"/>
          <p:nvPr/>
        </p:nvSpPr>
        <p:spPr>
          <a:xfrm>
            <a:off x="263092" y="5470553"/>
            <a:ext cx="384436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r>
              <a:rPr lang="ko-KR" altLang="en-US" sz="2000"/>
              <a:t>웹툰을 보고 있는 학생이 많아요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5798178" y="7275635"/>
            <a:ext cx="27174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신나는 소확행</a:t>
            </a:r>
            <a:r>
              <a:rPr lang="en-US" altLang="ko-KR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~</a:t>
            </a:r>
            <a:endParaRPr lang="en-US" altLang="ko-KR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3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h549\Desktop\빅데이터썸머스쿨프로젝트 관련\카드뉴스\KakaoTalk_20180821_155846677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5" t="1451" r="20640" b="1646"/>
          <a:stretch/>
        </p:blipFill>
        <p:spPr bwMode="auto">
          <a:xfrm>
            <a:off x="305252" y="5062033"/>
            <a:ext cx="3799266" cy="354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3"/>
          <p:cNvSpPr txBox="1"/>
          <p:nvPr/>
        </p:nvSpPr>
        <p:spPr>
          <a:xfrm>
            <a:off x="3113656" y="426044"/>
            <a:ext cx="3368251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멀더 원인을 분석해봤어요 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3132409" y="913605"/>
            <a:ext cx="4897193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웹툰 미리보기 결제가 주로 </a:t>
            </a:r>
            <a:r>
              <a:rPr lang="ko-KR" altLang="en-US" sz="2000" b="1" dirty="0">
                <a:solidFill>
                  <a:srgbClr val="FFC000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새벽시간</a:t>
            </a:r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대에 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이뤄지고 있어요</a:t>
            </a:r>
            <a:r>
              <a:rPr lang="mr-IN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…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00" b="96571" l="16444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9959" y="302045"/>
            <a:ext cx="3811269" cy="3776272"/>
          </a:xfrm>
          <a:prstGeom prst="rect">
            <a:avLst/>
          </a:prstGeom>
        </p:spPr>
      </p:pic>
      <p:sp>
        <p:nvSpPr>
          <p:cNvPr id="11" name="TextBox 13"/>
          <p:cNvSpPr txBox="1"/>
          <p:nvPr/>
        </p:nvSpPr>
        <p:spPr>
          <a:xfrm>
            <a:off x="3132410" y="1714168"/>
            <a:ext cx="441483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설문조사 </a:t>
            </a:r>
            <a:r>
              <a:rPr lang="en-US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&amp;</a:t>
            </a:r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데이터 모든 것의 결과가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3132409" y="2208627"/>
            <a:ext cx="1457351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같아요</a:t>
            </a:r>
            <a:r>
              <a:rPr lang="en-US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..!!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946" y="5364658"/>
            <a:ext cx="4183063" cy="3024336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512293" y="3887666"/>
            <a:ext cx="35173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자료추가해야함</a:t>
            </a:r>
            <a:r>
              <a:rPr lang="en-US" altLang="ko-KR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640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001125" cy="9001124"/>
          </a:xfrm>
          <a:prstGeom prst="rect">
            <a:avLst/>
          </a:prstGeom>
        </p:spPr>
      </p:pic>
      <p:pic>
        <p:nvPicPr>
          <p:cNvPr id="6" name="Picture 9" descr="C:\Users\kh549\Desktop\지빠귀\KakaoTalk_20180822_195811787ㅣㅣ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00" b="96800" l="14800" r="94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64" t="-1" r="8553" b="2225"/>
          <a:stretch/>
        </p:blipFill>
        <p:spPr bwMode="auto">
          <a:xfrm>
            <a:off x="396106" y="180082"/>
            <a:ext cx="3494467" cy="459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64278" y="4779641"/>
            <a:ext cx="8594019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여기서부터는</a:t>
            </a:r>
            <a:b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기프티콘</a:t>
            </a:r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웹툰</a:t>
            </a:r>
            <a:b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이모티콘</a:t>
            </a:r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웹툰</a:t>
            </a:r>
            <a:b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스토리와 데이터를 보여줌</a:t>
            </a:r>
            <a:r>
              <a:rPr lang="en-US" altLang="ko-K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4285701" y="324098"/>
            <a:ext cx="244711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스컬리 큰일났어</a:t>
            </a:r>
            <a:r>
              <a:rPr lang="mr-IN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…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4285701" y="848250"/>
            <a:ext cx="3023173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우리가 한발 늦었나보군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4285700" y="1372402"/>
            <a:ext cx="3743254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두가지 유형의 소비패턴을 지닌 </a:t>
            </a:r>
            <a:endParaRPr lang="en-US" altLang="ko-KR" sz="2000" dirty="0">
              <a:solidFill>
                <a:schemeClr val="bg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4285700" y="1896554"/>
            <a:ext cx="395927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학생들이 나타나기 시작했어</a:t>
            </a:r>
            <a:r>
              <a:rPr lang="mr-IN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…</a:t>
            </a:r>
            <a:r>
              <a:rPr lang="en-US" altLang="ko-KR" sz="20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1530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164</Words>
  <Application>Microsoft Office PowerPoint</Application>
  <PresentationFormat>사용자 지정</PresentationFormat>
  <Paragraphs>37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KoPub바탕체 Medium</vt:lpstr>
      <vt:lpstr>맑은 고딕</vt:lpstr>
      <vt:lpstr>Arial</vt:lpstr>
      <vt:lpstr>Mangal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YOMIIYO</dc:creator>
  <cp:lastModifiedBy>Kang harim</cp:lastModifiedBy>
  <cp:revision>22</cp:revision>
  <dcterms:created xsi:type="dcterms:W3CDTF">2015-10-29T05:48:04Z</dcterms:created>
  <dcterms:modified xsi:type="dcterms:W3CDTF">2018-08-22T15:59:37Z</dcterms:modified>
</cp:coreProperties>
</file>